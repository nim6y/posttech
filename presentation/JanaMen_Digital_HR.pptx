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0252E"/>
                </a:solidFill>
                <a:latin typeface="Aptos Display"/>
              </a:defRPr>
            </a:pPr>
            <a:r>
              <a:t>JanaMen.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8288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5CF5"/>
                </a:solidFill>
                <a:latin typeface="Aptos"/>
              </a:defRPr>
            </a:pPr>
            <a:r>
              <a:t>CHALLENGE 02  /  DIGITAL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0252E"/>
                </a:solidFill>
                <a:latin typeface="Aptos Display"/>
              </a:defRPr>
            </a:pPr>
            <a:r>
              <a:t>HR-сервисы —</a:t>
            </a:r>
            <a:br/>
            <a:r>
              <a:t>в одном пространстве.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677282"/>
                </a:solidFill>
                <a:latin typeface="Aptos"/>
              </a:defRPr>
            </a:pPr>
            <a:r>
              <a:t>Профиль · заявки · обучение · AI-помощник</a:t>
            </a:r>
            <a:br/>
            <a:r>
              <a:t>Один понятный путь для сотрудника и HR-команды.</a:t>
            </a:r>
          </a:p>
        </p:txBody>
      </p:sp>
      <p:sp>
        <p:nvSpPr>
          <p:cNvPr id="7" name="Oval 6"/>
          <p:cNvSpPr/>
          <p:nvPr/>
        </p:nvSpPr>
        <p:spPr>
          <a:xfrm>
            <a:off x="8321040" y="1463040"/>
            <a:ext cx="2377440" cy="2377440"/>
          </a:xfrm>
          <a:prstGeom prst="ellipse">
            <a:avLst/>
          </a:prstGeom>
          <a:solidFill>
            <a:srgbClr val="31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72600" y="2834640"/>
            <a:ext cx="1097280" cy="1097280"/>
          </a:xfrm>
          <a:prstGeom prst="ellipse">
            <a:avLst/>
          </a:prstGeom>
          <a:solidFill>
            <a:srgbClr val="C8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77282"/>
                </a:solidFill>
                <a:latin typeface="Aptos"/>
              </a:defRPr>
            </a:pPr>
            <a:r>
              <a:t>MVP · СИНТЕТИЧЕСКИЕ ДАННЫЕ · MOCK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5CF5"/>
                </a:solidFill>
                <a:latin typeface="Aptos"/>
              </a:defRPr>
            </a:pPr>
            <a:r>
              <a:t>01 /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0252E"/>
                </a:solidFill>
                <a:latin typeface="Aptos Display"/>
              </a:defRPr>
            </a:pPr>
            <a:r>
              <a:t>Одна точка входа вместо разрозненных сервисов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77282"/>
                </a:solidFill>
                <a:latin typeface="Aptos"/>
              </a:defRPr>
            </a:pPr>
            <a:r>
              <a:t>Прототип показывает сквозной пользовательский сценарий, а не пытается воспроизвести промышленную HR-систему.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246120" cy="2057400"/>
          </a:xfrm>
          <a:prstGeom prst="roundRect">
            <a:avLst/>
          </a:prstGeom>
          <a:solidFill>
            <a:srgbClr val="EFF2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163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5CF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0252E"/>
                </a:solidFill>
                <a:latin typeface="Aptos Display"/>
              </a:defRPr>
            </a:pPr>
            <a:r>
              <a:t>Личный кабинет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40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282"/>
                </a:solidFill>
                <a:latin typeface="Aptos"/>
              </a:defRPr>
            </a:pPr>
            <a:r>
              <a:t>Профиль, остаток отпуска и быстрые действия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60320"/>
            <a:ext cx="3246120" cy="2057400"/>
          </a:xfrm>
          <a:prstGeom prst="roundRect">
            <a:avLst/>
          </a:prstGeom>
          <a:solidFill>
            <a:srgbClr val="EFF2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8163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5CF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0252E"/>
                </a:solidFill>
                <a:latin typeface="Aptos Display"/>
              </a:defRPr>
            </a:pPr>
            <a:r>
              <a:t>HR-заявки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282"/>
                </a:solidFill>
                <a:latin typeface="Aptos"/>
              </a:defRPr>
            </a:pPr>
            <a:r>
              <a:t>Создание, статус, история и уведомления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60320"/>
            <a:ext cx="3246120" cy="2057400"/>
          </a:xfrm>
          <a:prstGeom prst="roundRect">
            <a:avLst/>
          </a:prstGeom>
          <a:solidFill>
            <a:srgbClr val="EFF2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8163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15CF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0252E"/>
                </a:solidFill>
                <a:latin typeface="Aptos Display"/>
              </a:defRPr>
            </a:pPr>
            <a:r>
              <a:t>Развитие и помощь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840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282"/>
                </a:solidFill>
                <a:latin typeface="Aptos"/>
              </a:defRPr>
            </a:pPr>
            <a:r>
              <a:t>Jana Academy и AI Jana по базе знаний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0252E"/>
                </a:solidFill>
                <a:latin typeface="Aptos"/>
              </a:defRPr>
            </a:pPr>
            <a:r>
              <a:t>Фокус оценки: сквозной сценарий, ясный UX, серверные права доступа и безопасный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5CF5"/>
                </a:solidFill>
                <a:latin typeface="Aptos"/>
              </a:defRPr>
            </a:pPr>
            <a:r>
              <a:t>02 /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0252E"/>
                </a:solidFill>
                <a:latin typeface="Aptos Display"/>
              </a:defRPr>
            </a:pPr>
            <a:r>
              <a:t>У каждого — своя зона ответственности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77282"/>
                </a:solidFill>
                <a:latin typeface="Aptos"/>
              </a:defRPr>
            </a:pPr>
            <a:r>
              <a:t>В презентации кейса нет требования двойного одобрения одной заявки; маршрут MVP выбран одноступенчатым.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246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15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606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0252E"/>
                </a:solidFill>
                <a:latin typeface="Aptos Display"/>
              </a:defRPr>
            </a:pPr>
            <a:r>
              <a:t>Сотрудник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246120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Смотрит собственный профиль</a:t>
            </a:r>
          </a:p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Создаёт заявку и видит историю</a:t>
            </a:r>
          </a:p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Проходит назначенный курс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246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1E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606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0252E"/>
                </a:solidFill>
                <a:latin typeface="Aptos Display"/>
              </a:defRPr>
            </a:pPr>
            <a:r>
              <a:t>Руководитель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246120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Видит только свою команду</a:t>
            </a:r>
          </a:p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Проверяет заявку и принимает решение</a:t>
            </a:r>
          </a:p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Смотрит прогресс обучения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331720"/>
            <a:ext cx="3246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B27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606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0252E"/>
                </a:solidFill>
                <a:latin typeface="Aptos Display"/>
              </a:defRPr>
            </a:pPr>
            <a:r>
              <a:t>HR / администратор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246120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Видит общую очередь без одобрения</a:t>
            </a:r>
          </a:p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Управляет ролями и назначает курсы</a:t>
            </a:r>
          </a:p>
          <a:p>
            <a:pPr>
              <a:spcAft>
                <a:spcPts val="1300"/>
              </a:spcAft>
              <a:defRPr sz="1200">
                <a:solidFill>
                  <a:srgbClr val="20252E"/>
                </a:solidFill>
                <a:latin typeface="Aptos"/>
              </a:defRPr>
            </a:pPr>
            <a:r>
              <a:t>•  Поддерживает базу знаний и интеграции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77282"/>
                </a:solidFill>
                <a:latin typeface="Aptos"/>
              </a:defRPr>
            </a:pPr>
            <a:r>
              <a:t>Официальные кадровые атрибуты — только для чтения. Исправление проходит через HR-процесс.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5CF5"/>
                </a:solidFill>
                <a:latin typeface="Aptos"/>
              </a:defRPr>
            </a:pPr>
            <a:r>
              <a:t>03 / СКВОЗНОЙ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0252E"/>
                </a:solidFill>
                <a:latin typeface="Aptos Display"/>
              </a:defRPr>
            </a:pPr>
            <a:r>
              <a:t>От заявки к решению и уведомлению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77282"/>
                </a:solidFill>
                <a:latin typeface="Aptos"/>
              </a:defRPr>
            </a:pPr>
            <a:r>
              <a:t>Простой маршрут, понятный пользователю и проверяемый на защите.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31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6243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743200"/>
            <a:ext cx="1874519" cy="22860"/>
          </a:xfrm>
          <a:prstGeom prst="rect">
            <a:avLst/>
          </a:prstGeom>
          <a:solidFill>
            <a:srgbClr val="D5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252E"/>
                </a:solidFill>
                <a:latin typeface="Aptos Display"/>
              </a:defRPr>
            </a:pPr>
            <a:r>
              <a:t>Сотрудник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282"/>
                </a:solidFill>
                <a:latin typeface="Aptos"/>
              </a:defRPr>
            </a:pPr>
            <a:r>
              <a:t>Выбирает отпуск в календаре</a:t>
            </a:r>
          </a:p>
        </p:txBody>
      </p:sp>
      <p:sp>
        <p:nvSpPr>
          <p:cNvPr id="11" name="Oval 10"/>
          <p:cNvSpPr/>
          <p:nvPr/>
        </p:nvSpPr>
        <p:spPr>
          <a:xfrm>
            <a:off x="3611880" y="2514600"/>
            <a:ext cx="502920" cy="502920"/>
          </a:xfrm>
          <a:prstGeom prst="ellipse">
            <a:avLst/>
          </a:prstGeom>
          <a:solidFill>
            <a:srgbClr val="31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6243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2743200"/>
            <a:ext cx="1874519" cy="22860"/>
          </a:xfrm>
          <a:prstGeom prst="rect">
            <a:avLst/>
          </a:prstGeom>
          <a:solidFill>
            <a:srgbClr val="D5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252E"/>
                </a:solidFill>
                <a:latin typeface="Aptos Display"/>
              </a:defRPr>
            </a:pPr>
            <a:r>
              <a:t>Система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49039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282"/>
                </a:solidFill>
                <a:latin typeface="Aptos"/>
              </a:defRPr>
            </a:pPr>
            <a:r>
              <a:t>Проверяет остаток дней на клиенте и сервере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2514600"/>
            <a:ext cx="502920" cy="502920"/>
          </a:xfrm>
          <a:prstGeom prst="ellipse">
            <a:avLst/>
          </a:prstGeom>
          <a:solidFill>
            <a:srgbClr val="31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6243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68312" y="2743200"/>
            <a:ext cx="1874519" cy="22860"/>
          </a:xfrm>
          <a:prstGeom prst="rect">
            <a:avLst/>
          </a:prstGeom>
          <a:solidFill>
            <a:srgbClr val="D5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252E"/>
                </a:solidFill>
                <a:latin typeface="Aptos Display"/>
              </a:defRPr>
            </a:pPr>
            <a:r>
              <a:t>Руководитель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282"/>
                </a:solidFill>
                <a:latin typeface="Aptos"/>
              </a:defRPr>
            </a:pPr>
            <a:r>
              <a:t>Одобряет или отклоняет заявку команды</a:t>
            </a:r>
          </a:p>
        </p:txBody>
      </p:sp>
      <p:sp>
        <p:nvSpPr>
          <p:cNvPr id="21" name="Oval 20"/>
          <p:cNvSpPr/>
          <p:nvPr/>
        </p:nvSpPr>
        <p:spPr>
          <a:xfrm>
            <a:off x="9281160" y="2514600"/>
            <a:ext cx="502920" cy="502920"/>
          </a:xfrm>
          <a:prstGeom prst="ellipse">
            <a:avLst/>
          </a:prstGeom>
          <a:solidFill>
            <a:srgbClr val="31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26243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252E"/>
                </a:solidFill>
                <a:latin typeface="Aptos Display"/>
              </a:defRPr>
            </a:pPr>
            <a:r>
              <a:t>Платформа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749039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282"/>
                </a:solidFill>
                <a:latin typeface="Aptos"/>
              </a:defRPr>
            </a:pPr>
            <a:r>
              <a:t>Записывает историю и уведомляет сотрудника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20640"/>
            <a:ext cx="10698480" cy="594360"/>
          </a:xfrm>
          <a:prstGeom prst="roundRect">
            <a:avLst/>
          </a:prstGeom>
          <a:solidFill>
            <a:srgbClr val="EF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85232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0252E"/>
                </a:solidFill>
                <a:latin typeface="Aptos"/>
              </a:defRPr>
            </a:pPr>
            <a:r>
              <a:t>HR контролирует очередь, но не повторяет решение руководителя. Доступ к данным проверяется в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5CF5"/>
                </a:solidFill>
                <a:latin typeface="Aptos"/>
              </a:defRPr>
            </a:pPr>
            <a:r>
              <a:t>04 /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0252E"/>
                </a:solidFill>
                <a:latin typeface="Aptos Display"/>
              </a:defRPr>
            </a:pPr>
            <a:r>
              <a:t>MVP с обозначенными точками интеграции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77282"/>
                </a:solidFill>
                <a:latin typeface="Aptos"/>
              </a:defRPr>
            </a:pPr>
            <a:r>
              <a:t>Реальные интеграции и корпоративный SSO — следующий этап, в хакатонной версии используются mock-данные.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286000" cy="1143000"/>
          </a:xfrm>
          <a:prstGeom prst="roundRect">
            <a:avLst/>
          </a:prstGeom>
          <a:solidFill>
            <a:srgbClr val="EFF2FA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0252E"/>
                </a:solidFill>
                <a:latin typeface="Aptos"/>
              </a:defRPr>
            </a:pPr>
            <a:r>
              <a:t>Веб-интерфейс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77282"/>
                </a:solidFill>
                <a:latin typeface="Aptos"/>
              </a:defRPr>
            </a:pPr>
            <a:r>
              <a:t>HTML · CSS · 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377440"/>
            <a:ext cx="2377440" cy="1143000"/>
          </a:xfrm>
          <a:prstGeom prst="roundRect">
            <a:avLst/>
          </a:prstGeom>
          <a:solidFill>
            <a:srgbClr val="EFF2FA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0252E"/>
                </a:solidFill>
                <a:latin typeface="Aptos"/>
              </a:defRPr>
            </a:pPr>
            <a:r>
              <a:t>FastAPI +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9992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77282"/>
                </a:solidFill>
                <a:latin typeface="Aptos"/>
              </a:defRPr>
            </a:pPr>
            <a:r>
              <a:t>Авторизация и роли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2194560" cy="1143000"/>
          </a:xfrm>
          <a:prstGeom prst="roundRect">
            <a:avLst/>
          </a:prstGeom>
          <a:solidFill>
            <a:srgbClr val="EFF2FA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786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0252E"/>
                </a:solidFill>
                <a:latin typeface="Aptos"/>
              </a:defRPr>
            </a:pPr>
            <a:r>
              <a:t>HR mock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992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77282"/>
                </a:solidFill>
                <a:latin typeface="Aptos"/>
              </a:defRPr>
            </a:pPr>
            <a:r>
              <a:t>Заявки · LMS · уведомления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377440"/>
            <a:ext cx="2377440" cy="1143000"/>
          </a:xfrm>
          <a:prstGeom prst="roundRect">
            <a:avLst/>
          </a:prstGeom>
          <a:solidFill>
            <a:srgbClr val="EFF2FA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0252E"/>
                </a:solidFill>
                <a:latin typeface="Aptos"/>
              </a:defRPr>
            </a:pPr>
            <a:r>
              <a:t>AI Jana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9992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77282"/>
                </a:solidFill>
                <a:latin typeface="Aptos"/>
              </a:defRPr>
            </a:pPr>
            <a:r>
              <a:t>Локальная база знаний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63240" y="2788920"/>
            <a:ext cx="320040" cy="182880"/>
          </a:xfrm>
          <a:prstGeom prst="rightArrow">
            <a:avLst/>
          </a:prstGeom>
          <a:solidFill>
            <a:srgbClr val="31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897880" y="2788920"/>
            <a:ext cx="320040" cy="182880"/>
          </a:xfrm>
          <a:prstGeom prst="rightArrow">
            <a:avLst/>
          </a:prstGeom>
          <a:solidFill>
            <a:srgbClr val="31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549640" y="2788920"/>
            <a:ext cx="320040" cy="182880"/>
          </a:xfrm>
          <a:prstGeom prst="rightArrow">
            <a:avLst/>
          </a:prstGeom>
          <a:solidFill>
            <a:srgbClr val="31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0252E"/>
                </a:solidFill>
                <a:latin typeface="Aptos"/>
              </a:defRPr>
            </a:pPr>
            <a:r>
              <a:t>•  1С:ЗУП — будущий источник официальных кадровых данных, только чтение.</a:t>
            </a:r>
          </a:p>
          <a:p>
            <a:pPr>
              <a:spcAft>
                <a:spcPts val="1300"/>
              </a:spcAft>
              <a:defRPr sz="1300">
                <a:solidFill>
                  <a:srgbClr val="20252E"/>
                </a:solidFill>
                <a:latin typeface="Aptos"/>
              </a:defRPr>
            </a:pPr>
            <a:r>
              <a:t>•  Documentolog — будущий адаптер передачи заявки, маршрута и статуса.</a:t>
            </a:r>
          </a:p>
          <a:p>
            <a:pPr>
              <a:spcAft>
                <a:spcPts val="1300"/>
              </a:spcAft>
              <a:defRPr sz="1300">
                <a:solidFill>
                  <a:srgbClr val="20252E"/>
                </a:solidFill>
                <a:latin typeface="Aptos"/>
              </a:defRPr>
            </a:pPr>
            <a:r>
              <a:t>•  AI Jana показывает источник или отказывается от ответа; данные и пароли в проекте демонстрационные.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1264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5CF5"/>
                </a:solidFill>
                <a:latin typeface="Aptos"/>
              </a:defRPr>
            </a:pPr>
            <a:r>
              <a:t>Запуск: docker compose up --build  · 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